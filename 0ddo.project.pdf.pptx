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62" r:id="rId5"/>
    <p:sldId id="264" r:id="rId6"/>
    <p:sldId id="265" r:id="rId7"/>
    <p:sldId id="266" r:id="rId8"/>
    <p:sldId id="267" r:id="rId9"/>
    <p:sldId id="268" r:id="rId10"/>
    <p:sldId id="269" r:id="rId11"/>
    <p:sldId id="270" r:id="rId12"/>
    <p:sldId id="271" r:id="rId13"/>
    <p:sldId id="272"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5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0T23:41:36.848"/>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0T23:41:40.235"/>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0T23:41:58.297"/>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0T23:43:38.497"/>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152421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173789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141237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CDA705-23F4-4CA9-B429-CEB770799DD5}"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796227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CDA705-23F4-4CA9-B429-CEB770799DD5}"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118707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CDA705-23F4-4CA9-B429-CEB770799DD5}"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787169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CDA705-23F4-4CA9-B429-CEB770799DD5}"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2630632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CDA705-23F4-4CA9-B429-CEB770799DD5}"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446234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CDA705-23F4-4CA9-B429-CEB770799DD5}"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4245285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CDA705-23F4-4CA9-B429-CEB770799DD5}"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6851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4252064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229270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4098436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0CDA705-23F4-4CA9-B429-CEB770799DD5}"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41972467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0CDA705-23F4-4CA9-B429-CEB770799DD5}" type="datetimeFigureOut">
              <a:rPr lang="en-US" smtClean="0"/>
              <a:t>4/24/2026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125549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0278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0CDA705-23F4-4CA9-B429-CEB770799DD5}"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3692BF-D239-4BF1-8102-8698B503EE99}" type="slidenum">
              <a:rPr lang="en-US" smtClean="0"/>
              <a:t>‹#›</a:t>
            </a:fld>
            <a:endParaRPr lang="en-US"/>
          </a:p>
        </p:txBody>
      </p:sp>
    </p:spTree>
    <p:extLst>
      <p:ext uri="{BB962C8B-B14F-4D97-AF65-F5344CB8AC3E}">
        <p14:creationId xmlns:p14="http://schemas.microsoft.com/office/powerpoint/2010/main" val="342093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0CDA705-23F4-4CA9-B429-CEB770799DD5}" type="datetimeFigureOut">
              <a:rPr lang="en-US" smtClean="0"/>
              <a:t>4/24/2026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F3692BF-D239-4BF1-8102-8698B503EE99}" type="slidenum">
              <a:rPr lang="en-US" smtClean="0"/>
              <a:t>‹#›</a:t>
            </a:fld>
            <a:endParaRPr lang="en-US"/>
          </a:p>
        </p:txBody>
      </p:sp>
    </p:spTree>
    <p:extLst>
      <p:ext uri="{BB962C8B-B14F-4D97-AF65-F5344CB8AC3E}">
        <p14:creationId xmlns:p14="http://schemas.microsoft.com/office/powerpoint/2010/main" val="190040306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3.png"/><Relationship Id="rId4" Type="http://schemas.openxmlformats.org/officeDocument/2006/relationships/customXml" Target="../ink/ink2.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E8C5C-BC00-DF79-29EA-88E464847897}"/>
              </a:ext>
            </a:extLst>
          </p:cNvPr>
          <p:cNvSpPr>
            <a:spLocks noGrp="1"/>
          </p:cNvSpPr>
          <p:nvPr>
            <p:ph type="ctrTitle"/>
          </p:nvPr>
        </p:nvSpPr>
        <p:spPr>
          <a:xfrm>
            <a:off x="716337" y="1153299"/>
            <a:ext cx="7869415" cy="1578882"/>
          </a:xfrm>
        </p:spPr>
        <p:txBody>
          <a:bodyPr/>
          <a:lstStyle/>
          <a:p>
            <a:r>
              <a:rPr lang="en-US" dirty="0"/>
              <a:t> </a:t>
            </a:r>
            <a:br>
              <a:rPr lang="en-US" dirty="0"/>
            </a:br>
            <a:r>
              <a:rPr lang="en-US" dirty="0"/>
              <a:t>ODOO &amp; ERP SYSTEM </a:t>
            </a:r>
          </a:p>
        </p:txBody>
      </p:sp>
      <p:sp>
        <p:nvSpPr>
          <p:cNvPr id="3" name="Subtitle 2">
            <a:extLst>
              <a:ext uri="{FF2B5EF4-FFF2-40B4-BE49-F238E27FC236}">
                <a16:creationId xmlns:a16="http://schemas.microsoft.com/office/drawing/2014/main" id="{4D79F081-474F-9184-D498-6FC1FC005215}"/>
              </a:ext>
            </a:extLst>
          </p:cNvPr>
          <p:cNvSpPr>
            <a:spLocks noGrp="1"/>
          </p:cNvSpPr>
          <p:nvPr>
            <p:ph type="subTitle" idx="1"/>
          </p:nvPr>
        </p:nvSpPr>
        <p:spPr>
          <a:xfrm>
            <a:off x="465482" y="2534478"/>
            <a:ext cx="13180946" cy="4164495"/>
          </a:xfrm>
        </p:spPr>
        <p:txBody>
          <a:bodyPr>
            <a:normAutofit/>
          </a:bodyPr>
          <a:lstStyle/>
          <a:p>
            <a:endParaRPr lang="ar-EG" dirty="0"/>
          </a:p>
          <a:p>
            <a:r>
              <a:rPr lang="en-US" b="1" dirty="0"/>
              <a:t>- </a:t>
            </a:r>
            <a:r>
              <a:rPr lang="en-US" b="1" dirty="0">
                <a:solidFill>
                  <a:schemeClr val="bg1"/>
                </a:solidFill>
              </a:rPr>
              <a:t>NAMES &amp; CODES :</a:t>
            </a:r>
            <a:r>
              <a:rPr lang="en-US" dirty="0">
                <a:solidFill>
                  <a:schemeClr val="bg1"/>
                </a:solidFill>
              </a:rPr>
              <a:t> - </a:t>
            </a:r>
            <a:r>
              <a:rPr lang="en-US" dirty="0" err="1">
                <a:solidFill>
                  <a:schemeClr val="bg1"/>
                </a:solidFill>
              </a:rPr>
              <a:t>malak</a:t>
            </a:r>
            <a:r>
              <a:rPr lang="en-US" dirty="0">
                <a:solidFill>
                  <a:schemeClr val="bg1"/>
                </a:solidFill>
              </a:rPr>
              <a:t> </a:t>
            </a:r>
            <a:r>
              <a:rPr lang="en-US" dirty="0" err="1">
                <a:solidFill>
                  <a:schemeClr val="bg1"/>
                </a:solidFill>
              </a:rPr>
              <a:t>mohammed</a:t>
            </a:r>
            <a:r>
              <a:rPr lang="en-US" dirty="0">
                <a:solidFill>
                  <a:schemeClr val="bg1"/>
                </a:solidFill>
              </a:rPr>
              <a:t> </a:t>
            </a:r>
            <a:r>
              <a:rPr lang="en-US" dirty="0" err="1">
                <a:solidFill>
                  <a:schemeClr val="bg1"/>
                </a:solidFill>
              </a:rPr>
              <a:t>amer</a:t>
            </a:r>
            <a:r>
              <a:rPr lang="en-US" dirty="0">
                <a:solidFill>
                  <a:schemeClr val="bg1"/>
                </a:solidFill>
              </a:rPr>
              <a:t> </a:t>
            </a:r>
            <a:r>
              <a:rPr lang="ar-EG" dirty="0">
                <a:solidFill>
                  <a:schemeClr val="bg1"/>
                </a:solidFill>
              </a:rPr>
              <a:t> -</a:t>
            </a:r>
            <a:r>
              <a:rPr lang="en-US" dirty="0">
                <a:solidFill>
                  <a:schemeClr val="bg1"/>
                </a:solidFill>
              </a:rPr>
              <a:t>2022009</a:t>
            </a:r>
            <a:r>
              <a:rPr lang="ar-EG" dirty="0">
                <a:solidFill>
                  <a:schemeClr val="bg1"/>
                </a:solidFill>
              </a:rPr>
              <a:t>10</a:t>
            </a:r>
            <a:endParaRPr lang="en-US" dirty="0">
              <a:solidFill>
                <a:schemeClr val="bg1"/>
              </a:solidFill>
            </a:endParaRPr>
          </a:p>
          <a:p>
            <a:r>
              <a:rPr lang="en-US" b="1" dirty="0">
                <a:solidFill>
                  <a:schemeClr val="bg1"/>
                </a:solidFill>
              </a:rPr>
              <a:t>- SPECIALIZED ACTIVITY </a:t>
            </a:r>
            <a:r>
              <a:rPr lang="en-US" dirty="0">
                <a:solidFill>
                  <a:schemeClr val="bg1"/>
                </a:solidFill>
              </a:rPr>
              <a:t> : skincare store </a:t>
            </a:r>
          </a:p>
          <a:p>
            <a:r>
              <a:rPr lang="en-US" b="1" dirty="0">
                <a:solidFill>
                  <a:schemeClr val="bg1"/>
                </a:solidFill>
              </a:rPr>
              <a:t>-DR : </a:t>
            </a:r>
            <a:r>
              <a:rPr lang="en-US" dirty="0">
                <a:solidFill>
                  <a:schemeClr val="bg1"/>
                </a:solidFill>
              </a:rPr>
              <a:t> </a:t>
            </a:r>
            <a:r>
              <a:rPr lang="en-US" dirty="0" err="1">
                <a:solidFill>
                  <a:schemeClr val="bg1"/>
                </a:solidFill>
              </a:rPr>
              <a:t>mohammed</a:t>
            </a:r>
            <a:r>
              <a:rPr lang="en-US" dirty="0">
                <a:solidFill>
                  <a:schemeClr val="bg1"/>
                </a:solidFill>
              </a:rPr>
              <a:t> </a:t>
            </a:r>
            <a:r>
              <a:rPr lang="en-US" dirty="0" err="1">
                <a:solidFill>
                  <a:schemeClr val="bg1"/>
                </a:solidFill>
              </a:rPr>
              <a:t>hamed</a:t>
            </a:r>
            <a:r>
              <a:rPr lang="en-US" dirty="0">
                <a:solidFill>
                  <a:schemeClr val="bg1"/>
                </a:solidFill>
              </a:rPr>
              <a:t> </a:t>
            </a:r>
            <a:endParaRPr lang="ar-EG" dirty="0">
              <a:solidFill>
                <a:schemeClr val="bg1"/>
              </a:solidFill>
            </a:endParaRP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4" name="Ink 3">
                <a:extLst>
                  <a:ext uri="{FF2B5EF4-FFF2-40B4-BE49-F238E27FC236}">
                    <a16:creationId xmlns:a16="http://schemas.microsoft.com/office/drawing/2014/main" id="{A93FE6F7-2833-6DD1-FE27-C2D10FD317E5}"/>
                  </a:ext>
                </a:extLst>
              </p14:cNvPr>
              <p14:cNvContentPartPr/>
              <p14:nvPr/>
            </p14:nvContentPartPr>
            <p14:xfrm>
              <a:off x="3677165" y="3478414"/>
              <a:ext cx="360" cy="360"/>
            </p14:xfrm>
          </p:contentPart>
        </mc:Choice>
        <mc:Fallback xmlns="">
          <p:pic>
            <p:nvPicPr>
              <p:cNvPr id="4" name="Ink 3">
                <a:extLst>
                  <a:ext uri="{FF2B5EF4-FFF2-40B4-BE49-F238E27FC236}">
                    <a16:creationId xmlns:a16="http://schemas.microsoft.com/office/drawing/2014/main" id="{A93FE6F7-2833-6DD1-FE27-C2D10FD317E5}"/>
                  </a:ext>
                </a:extLst>
              </p:cNvPr>
              <p:cNvPicPr/>
              <p:nvPr/>
            </p:nvPicPr>
            <p:blipFill>
              <a:blip r:embed="rId3"/>
              <a:stretch>
                <a:fillRect/>
              </a:stretch>
            </p:blipFill>
            <p:spPr>
              <a:xfrm>
                <a:off x="3659525" y="3370414"/>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637F365A-63C1-26BE-5B7F-B985021A3D75}"/>
                  </a:ext>
                </a:extLst>
              </p14:cNvPr>
              <p14:cNvContentPartPr/>
              <p14:nvPr/>
            </p14:nvContentPartPr>
            <p14:xfrm>
              <a:off x="-974395" y="1073254"/>
              <a:ext cx="360" cy="360"/>
            </p14:xfrm>
          </p:contentPart>
        </mc:Choice>
        <mc:Fallback xmlns="">
          <p:pic>
            <p:nvPicPr>
              <p:cNvPr id="5" name="Ink 4">
                <a:extLst>
                  <a:ext uri="{FF2B5EF4-FFF2-40B4-BE49-F238E27FC236}">
                    <a16:creationId xmlns:a16="http://schemas.microsoft.com/office/drawing/2014/main" id="{637F365A-63C1-26BE-5B7F-B985021A3D75}"/>
                  </a:ext>
                </a:extLst>
              </p:cNvPr>
              <p:cNvPicPr/>
              <p:nvPr/>
            </p:nvPicPr>
            <p:blipFill>
              <a:blip r:embed="rId5"/>
              <a:stretch>
                <a:fillRect/>
              </a:stretch>
            </p:blipFill>
            <p:spPr>
              <a:xfrm>
                <a:off x="-992035" y="965254"/>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6" name="Ink 5">
                <a:extLst>
                  <a:ext uri="{FF2B5EF4-FFF2-40B4-BE49-F238E27FC236}">
                    <a16:creationId xmlns:a16="http://schemas.microsoft.com/office/drawing/2014/main" id="{8B6C63C0-9D35-846A-FD64-51F58E2F9923}"/>
                  </a:ext>
                </a:extLst>
              </p14:cNvPr>
              <p14:cNvContentPartPr/>
              <p14:nvPr/>
            </p14:nvContentPartPr>
            <p14:xfrm>
              <a:off x="12910805" y="1053454"/>
              <a:ext cx="360" cy="360"/>
            </p14:xfrm>
          </p:contentPart>
        </mc:Choice>
        <mc:Fallback xmlns="">
          <p:pic>
            <p:nvPicPr>
              <p:cNvPr id="6" name="Ink 5">
                <a:extLst>
                  <a:ext uri="{FF2B5EF4-FFF2-40B4-BE49-F238E27FC236}">
                    <a16:creationId xmlns:a16="http://schemas.microsoft.com/office/drawing/2014/main" id="{8B6C63C0-9D35-846A-FD64-51F58E2F9923}"/>
                  </a:ext>
                </a:extLst>
              </p:cNvPr>
              <p:cNvPicPr/>
              <p:nvPr/>
            </p:nvPicPr>
            <p:blipFill>
              <a:blip r:embed="rId7"/>
              <a:stretch>
                <a:fillRect/>
              </a:stretch>
            </p:blipFill>
            <p:spPr>
              <a:xfrm>
                <a:off x="12892805" y="945814"/>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C5C8B4C2-B43A-87FF-2F7B-539CFE635658}"/>
                  </a:ext>
                </a:extLst>
              </p14:cNvPr>
              <p14:cNvContentPartPr/>
              <p14:nvPr/>
            </p14:nvContentPartPr>
            <p14:xfrm>
              <a:off x="3240125" y="4025254"/>
              <a:ext cx="360" cy="360"/>
            </p14:xfrm>
          </p:contentPart>
        </mc:Choice>
        <mc:Fallback xmlns="">
          <p:pic>
            <p:nvPicPr>
              <p:cNvPr id="8" name="Ink 7">
                <a:extLst>
                  <a:ext uri="{FF2B5EF4-FFF2-40B4-BE49-F238E27FC236}">
                    <a16:creationId xmlns:a16="http://schemas.microsoft.com/office/drawing/2014/main" id="{C5C8B4C2-B43A-87FF-2F7B-539CFE635658}"/>
                  </a:ext>
                </a:extLst>
              </p:cNvPr>
              <p:cNvPicPr/>
              <p:nvPr/>
            </p:nvPicPr>
            <p:blipFill>
              <a:blip r:embed="rId9"/>
              <a:stretch>
                <a:fillRect/>
              </a:stretch>
            </p:blipFill>
            <p:spPr>
              <a:xfrm>
                <a:off x="3222125" y="3917614"/>
                <a:ext cx="36000" cy="216000"/>
              </a:xfrm>
              <a:prstGeom prst="rect">
                <a:avLst/>
              </a:prstGeom>
            </p:spPr>
          </p:pic>
        </mc:Fallback>
      </mc:AlternateContent>
    </p:spTree>
    <p:extLst>
      <p:ext uri="{BB962C8B-B14F-4D97-AF65-F5344CB8AC3E}">
        <p14:creationId xmlns:p14="http://schemas.microsoft.com/office/powerpoint/2010/main" val="3055116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60B6B-DFC2-2F29-4820-9C7ECFDFECCF}"/>
              </a:ext>
            </a:extLst>
          </p:cNvPr>
          <p:cNvSpPr>
            <a:spLocks noGrp="1"/>
          </p:cNvSpPr>
          <p:nvPr>
            <p:ph type="title"/>
          </p:nvPr>
        </p:nvSpPr>
        <p:spPr/>
        <p:txBody>
          <a:bodyPr/>
          <a:lstStyle/>
          <a:p>
            <a:r>
              <a:rPr lang="en-US" b="1" dirty="0"/>
              <a:t>ODOO WEBSITE </a:t>
            </a:r>
          </a:p>
        </p:txBody>
      </p:sp>
      <p:sp>
        <p:nvSpPr>
          <p:cNvPr id="3" name="Content Placeholder 2">
            <a:extLst>
              <a:ext uri="{FF2B5EF4-FFF2-40B4-BE49-F238E27FC236}">
                <a16:creationId xmlns:a16="http://schemas.microsoft.com/office/drawing/2014/main" id="{C0A214DE-FACA-E104-497F-38AD7229BA69}"/>
              </a:ext>
            </a:extLst>
          </p:cNvPr>
          <p:cNvSpPr>
            <a:spLocks noGrp="1"/>
          </p:cNvSpPr>
          <p:nvPr>
            <p:ph idx="1"/>
          </p:nvPr>
        </p:nvSpPr>
        <p:spPr/>
        <p:txBody>
          <a:bodyPr/>
          <a:lstStyle/>
          <a:p>
            <a:r>
              <a:rPr lang="en-US" dirty="0" err="1"/>
              <a:t>odoo</a:t>
            </a:r>
            <a:r>
              <a:rPr lang="en-US" dirty="0"/>
              <a:t> website </a:t>
            </a:r>
            <a:r>
              <a:rPr lang="ar-EG" dirty="0"/>
              <a:t>يعتبر تطبيق  اودو ويبسايت أحد اهم نظام تخطيط موارد المؤسسات</a:t>
            </a:r>
            <a:r>
              <a:rPr lang="en-US" dirty="0"/>
              <a:t>.</a:t>
            </a:r>
            <a:endParaRPr lang="ar-EG" dirty="0"/>
          </a:p>
          <a:p>
            <a:endParaRPr lang="ar-EG" dirty="0"/>
          </a:p>
          <a:p>
            <a:r>
              <a:rPr lang="ar-EG" dirty="0"/>
              <a:t>. يسمح هذا التطبيق للشركات بإنشاء متاجر إلكترونية احترافية لبيع المنتجات (مثل منتجات العناية بالبشرة) بسهولة تامة</a:t>
            </a:r>
          </a:p>
          <a:p>
            <a:endParaRPr lang="en-US" dirty="0"/>
          </a:p>
          <a:p>
            <a:r>
              <a:rPr lang="ar-EG" dirty="0"/>
              <a:t>  مما يجعله الخيار الاول للشركات الناشئة.</a:t>
            </a:r>
            <a:r>
              <a:rPr lang="en-US" dirty="0"/>
              <a:t>drag and drop</a:t>
            </a:r>
            <a:r>
              <a:rPr lang="ar-EG" dirty="0"/>
              <a:t>يتميز النظام بخاصية "السحب والإفلات“</a:t>
            </a:r>
          </a:p>
          <a:p>
            <a:endParaRPr lang="ar-EG" dirty="0"/>
          </a:p>
          <a:p>
            <a:r>
              <a:rPr lang="ar-EG" dirty="0"/>
              <a:t>يرتبط الموقع بشكل مباشر مع المخازن و المبيعات والمحاسبة داخل المؤسسة مما يضمن دقة البيانات.</a:t>
            </a:r>
          </a:p>
          <a:p>
            <a:endParaRPr lang="en-US" dirty="0"/>
          </a:p>
        </p:txBody>
      </p:sp>
    </p:spTree>
    <p:extLst>
      <p:ext uri="{BB962C8B-B14F-4D97-AF65-F5344CB8AC3E}">
        <p14:creationId xmlns:p14="http://schemas.microsoft.com/office/powerpoint/2010/main" val="2204461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2F15-AB1B-9624-7A58-3E07A0F089F3}"/>
              </a:ext>
            </a:extLst>
          </p:cNvPr>
          <p:cNvSpPr>
            <a:spLocks noGrp="1"/>
          </p:cNvSpPr>
          <p:nvPr>
            <p:ph type="title"/>
          </p:nvPr>
        </p:nvSpPr>
        <p:spPr>
          <a:xfrm>
            <a:off x="1222513" y="973668"/>
            <a:ext cx="8693854" cy="706964"/>
          </a:xfrm>
        </p:spPr>
        <p:txBody>
          <a:bodyPr/>
          <a:lstStyle/>
          <a:p>
            <a:r>
              <a:rPr lang="ar-EG" b="1" dirty="0"/>
              <a:t> و مميزاته </a:t>
            </a:r>
            <a:r>
              <a:rPr lang="en-US" b="1" dirty="0"/>
              <a:t>ODOO</a:t>
            </a:r>
            <a:r>
              <a:rPr lang="ar-EG" b="1" dirty="0"/>
              <a:t> فكرة تطبيق </a:t>
            </a:r>
            <a:endParaRPr lang="en-US" b="1" dirty="0"/>
          </a:p>
        </p:txBody>
      </p:sp>
      <p:sp>
        <p:nvSpPr>
          <p:cNvPr id="3" name="Content Placeholder 2">
            <a:extLst>
              <a:ext uri="{FF2B5EF4-FFF2-40B4-BE49-F238E27FC236}">
                <a16:creationId xmlns:a16="http://schemas.microsoft.com/office/drawing/2014/main" id="{D09126AD-1B67-A314-AF98-7FB03FCF1B12}"/>
              </a:ext>
            </a:extLst>
          </p:cNvPr>
          <p:cNvSpPr>
            <a:spLocks noGrp="1"/>
          </p:cNvSpPr>
          <p:nvPr>
            <p:ph idx="1"/>
          </p:nvPr>
        </p:nvSpPr>
        <p:spPr>
          <a:xfrm>
            <a:off x="635668" y="2534478"/>
            <a:ext cx="10296939" cy="4234069"/>
          </a:xfrm>
        </p:spPr>
        <p:txBody>
          <a:bodyPr/>
          <a:lstStyle/>
          <a:p>
            <a:pPr marL="0" indent="0">
              <a:buNone/>
            </a:pPr>
            <a:r>
              <a:rPr lang="en-US" dirty="0"/>
              <a:t> </a:t>
            </a:r>
            <a:endParaRPr lang="ar-EG" dirty="0"/>
          </a:p>
          <a:p>
            <a:pPr>
              <a:buFont typeface="Arial" panose="020B0604020202020204" pitchFamily="34" charset="0"/>
              <a:buChar char="•"/>
            </a:pPr>
            <a:r>
              <a:rPr lang="ar-EG" dirty="0"/>
              <a:t>مش مجرد أداة لتصميم شكل الموقع، هو في الحقيقة "قلب" المتجر الإلكتروني اللي بيربطنا بالجمهور</a:t>
            </a:r>
          </a:p>
          <a:p>
            <a:pPr>
              <a:buFont typeface="Arial" panose="020B0604020202020204" pitchFamily="34" charset="0"/>
              <a:buChar char="•"/>
            </a:pPr>
            <a:r>
              <a:rPr lang="ar-EG" dirty="0"/>
              <a:t>التطبيق بيخلينا نصمم موقع احترافي جداً بمجرد "السحب والإفلات"، يعني مش محتاجين نكون مبرمجين عشان نفتح متجر </a:t>
            </a:r>
            <a:r>
              <a:rPr lang="en-US" dirty="0"/>
              <a:t>Skin Care </a:t>
            </a:r>
            <a:r>
              <a:rPr lang="ar-EG" dirty="0"/>
              <a:t>خاص بينا.</a:t>
            </a:r>
          </a:p>
          <a:p>
            <a:pPr>
              <a:buFont typeface="Arial" panose="020B0604020202020204" pitchFamily="34" charset="0"/>
              <a:buChar char="•"/>
            </a:pPr>
            <a:r>
              <a:rPr lang="ar-EG" dirty="0"/>
              <a:t>الأهم من الشكل هو "الربط الذكي"؛ يعني بمجرد ما بنرفع منتج على السيستم، بيظهر فوراً للعملاء ببياناته وسعره.</a:t>
            </a:r>
          </a:p>
          <a:p>
            <a:pPr>
              <a:buFont typeface="Arial" panose="020B0604020202020204" pitchFamily="34" charset="0"/>
              <a:buChar char="•"/>
            </a:pPr>
            <a:r>
              <a:rPr lang="ar-EG" dirty="0"/>
              <a:t>كمان التطبيق بيدعم "التصفح من الموبايل" بشكل ممتاز، وده ضروري جداً لأن أغلب عملاء منتجات التجميل بيشتروا من موبايلاتهم.</a:t>
            </a:r>
          </a:p>
          <a:p>
            <a:endParaRPr lang="en-US" dirty="0"/>
          </a:p>
        </p:txBody>
      </p:sp>
    </p:spTree>
    <p:extLst>
      <p:ext uri="{BB962C8B-B14F-4D97-AF65-F5344CB8AC3E}">
        <p14:creationId xmlns:p14="http://schemas.microsoft.com/office/powerpoint/2010/main" val="1068482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3D209-00CC-0686-D44E-6457110246C9}"/>
              </a:ext>
            </a:extLst>
          </p:cNvPr>
          <p:cNvSpPr>
            <a:spLocks noGrp="1"/>
          </p:cNvSpPr>
          <p:nvPr>
            <p:ph type="title"/>
          </p:nvPr>
        </p:nvSpPr>
        <p:spPr>
          <a:xfrm>
            <a:off x="1154954" y="973668"/>
            <a:ext cx="9629003" cy="795497"/>
          </a:xfrm>
        </p:spPr>
        <p:txBody>
          <a:bodyPr/>
          <a:lstStyle/>
          <a:p>
            <a:r>
              <a:rPr lang="ar-EG" b="1" dirty="0"/>
              <a:t> و الاهتمام بالبشرة ؟</a:t>
            </a:r>
            <a:r>
              <a:rPr lang="en-US" b="1" dirty="0"/>
              <a:t>Skincare </a:t>
            </a:r>
            <a:r>
              <a:rPr lang="ar-EG" b="1" dirty="0"/>
              <a:t>لماذا اختارنا مجال ال</a:t>
            </a:r>
            <a:endParaRPr lang="en-US" b="1" dirty="0"/>
          </a:p>
        </p:txBody>
      </p:sp>
      <p:sp>
        <p:nvSpPr>
          <p:cNvPr id="3" name="Content Placeholder 2">
            <a:extLst>
              <a:ext uri="{FF2B5EF4-FFF2-40B4-BE49-F238E27FC236}">
                <a16:creationId xmlns:a16="http://schemas.microsoft.com/office/drawing/2014/main" id="{ED41D5B3-AF58-DA79-8191-1DEAC00A331A}"/>
              </a:ext>
            </a:extLst>
          </p:cNvPr>
          <p:cNvSpPr>
            <a:spLocks noGrp="1"/>
          </p:cNvSpPr>
          <p:nvPr>
            <p:ph idx="1"/>
          </p:nvPr>
        </p:nvSpPr>
        <p:spPr/>
        <p:txBody>
          <a:bodyPr>
            <a:normAutofit fontScale="92500" lnSpcReduction="20000"/>
          </a:bodyPr>
          <a:lstStyle/>
          <a:p>
            <a:r>
              <a:rPr lang="ar-EG" dirty="0"/>
              <a:t>نوع المنتجات الكبير: مجال الـ </a:t>
            </a:r>
            <a:r>
              <a:rPr lang="en-US" dirty="0"/>
              <a:t>Skin Care </a:t>
            </a:r>
            <a:r>
              <a:rPr lang="ar-EG" dirty="0"/>
              <a:t>فيه أصناف كتير جداً (غسول، سيروم، مرطب، واقي شمس)، وكل صنف له أنواع حسب نوع البشرة، فكان لازم نستخدم نظام زي </a:t>
            </a:r>
            <a:r>
              <a:rPr lang="en-US" dirty="0"/>
              <a:t>Odoo </a:t>
            </a:r>
            <a:r>
              <a:rPr lang="ar-EG" dirty="0"/>
              <a:t>عشان ينظم لنا "الفئات" دي بطريقة سهلة للعميل.</a:t>
            </a:r>
          </a:p>
          <a:p>
            <a:endParaRPr lang="ar-EG" dirty="0"/>
          </a:p>
          <a:p>
            <a:r>
              <a:rPr lang="ar-EG" dirty="0"/>
              <a:t>أهمية متابعة المخزون: المنتجات دي ليها تاريخ صلاحية وكميات محددة، فاستخدامنا للسيستم بيخلينا نراقب المخزن أول بأول ونعرف إيه اللي قرب يخلص أو إيه اللي عليه سحب أكتر.</a:t>
            </a:r>
          </a:p>
          <a:p>
            <a:endParaRPr lang="ar-EG" dirty="0"/>
          </a:p>
          <a:p>
            <a:r>
              <a:rPr lang="ar-EG" dirty="0"/>
              <a:t>طبيعة الجمهور المستهدف: أغلب اللي بيشتروا منتجات العناية بالبشرة بيحبوا يشتروا "أونلاين" ويشوفوا صور واضحة وريفيوهات، وتطبيق </a:t>
            </a:r>
            <a:r>
              <a:rPr lang="en-US" dirty="0"/>
              <a:t>Odoo Website </a:t>
            </a:r>
            <a:r>
              <a:rPr lang="ar-EG" dirty="0"/>
              <a:t>وفر لنا واجهة شيك ومريحة تخلي تجربة الشراء ممتعة وسهلة.</a:t>
            </a:r>
          </a:p>
          <a:p>
            <a:endParaRPr lang="ar-EG" dirty="0"/>
          </a:p>
          <a:p>
            <a:r>
              <a:rPr lang="ar-EG" dirty="0"/>
              <a:t>بناء الثقة مع العميل: لما العميل يشتري ويجيله إيميل تأكيد وفاتورة احترافية من السيستم، ده بيدي انطباع إن المتجر براند حقيقي وموثوق فيه.</a:t>
            </a:r>
            <a:endParaRPr lang="en-US" dirty="0"/>
          </a:p>
        </p:txBody>
      </p:sp>
    </p:spTree>
    <p:extLst>
      <p:ext uri="{BB962C8B-B14F-4D97-AF65-F5344CB8AC3E}">
        <p14:creationId xmlns:p14="http://schemas.microsoft.com/office/powerpoint/2010/main" val="1321509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1197A303-8FB0-BF64-B547-AA1146CDD8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3057" y="487018"/>
            <a:ext cx="3965713" cy="5602357"/>
          </a:xfrm>
        </p:spPr>
      </p:pic>
      <p:sp>
        <p:nvSpPr>
          <p:cNvPr id="18" name="Rectangle 3">
            <a:extLst>
              <a:ext uri="{FF2B5EF4-FFF2-40B4-BE49-F238E27FC236}">
                <a16:creationId xmlns:a16="http://schemas.microsoft.com/office/drawing/2014/main" id="{86A34CE5-B64C-E6E7-1739-2AFE05308CC7}"/>
              </a:ext>
            </a:extLst>
          </p:cNvPr>
          <p:cNvSpPr>
            <a:spLocks noGrp="1" noChangeArrowheads="1"/>
          </p:cNvSpPr>
          <p:nvPr>
            <p:ph type="body" sz="half" idx="2"/>
          </p:nvPr>
        </p:nvSpPr>
        <p:spPr bwMode="auto">
          <a:xfrm>
            <a:off x="585788" y="2256602"/>
            <a:ext cx="411542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a:t>
            </a: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نشاء الحساب</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بدأت الخطوة الأولى بفتح حساب رسمي للمتجر على منصة</a:t>
            </a:r>
            <a:r>
              <a:rPr kumimoji="0" lang="en-US" altLang="en-US" sz="1800" b="0" i="0" u="none" strike="noStrike" cap="none" normalizeH="0" baseline="0" dirty="0">
                <a:ln>
                  <a:noFill/>
                </a:ln>
                <a:solidFill>
                  <a:schemeClr val="bg1"/>
                </a:solidFill>
                <a:effectLst/>
                <a:latin typeface="Arial" panose="020B0604020202020204" pitchFamily="34" charset="0"/>
              </a:rPr>
              <a:t> Odoo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لربط الجانب النظري بالتطبيق الفعلي</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تخصيص البيانات</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قمت بإدخال بيانات "متجر العناية بالبشرة" وتحديد الإعدادات الأساسية لضمان عمل النظام بشكل صحيح</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تهيئة المتجر</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هذه الخطوة هي الرابط الأساسي الذي يجمع بين الموقع الإلكتروني وقاعدة بيانات المؤسسة</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20" name="Title 19">
            <a:extLst>
              <a:ext uri="{FF2B5EF4-FFF2-40B4-BE49-F238E27FC236}">
                <a16:creationId xmlns:a16="http://schemas.microsoft.com/office/drawing/2014/main" id="{4536C6E0-6F97-F688-F905-D8E8D38C82AE}"/>
              </a:ext>
            </a:extLst>
          </p:cNvPr>
          <p:cNvSpPr>
            <a:spLocks noGrp="1"/>
          </p:cNvSpPr>
          <p:nvPr>
            <p:ph type="title"/>
          </p:nvPr>
        </p:nvSpPr>
        <p:spPr>
          <a:xfrm>
            <a:off x="1145016" y="487018"/>
            <a:ext cx="2793158" cy="1600200"/>
          </a:xfrm>
        </p:spPr>
        <p:txBody>
          <a:bodyPr/>
          <a:lstStyle/>
          <a:p>
            <a:br>
              <a:rPr lang="ar-EG" b="1" dirty="0"/>
            </a:br>
            <a:r>
              <a:rPr lang="ar-EG" b="1" dirty="0"/>
              <a:t>الخطوة الاولي : </a:t>
            </a:r>
            <a:endParaRPr lang="en-US" b="1" dirty="0"/>
          </a:p>
        </p:txBody>
      </p:sp>
    </p:spTree>
    <p:extLst>
      <p:ext uri="{BB962C8B-B14F-4D97-AF65-F5344CB8AC3E}">
        <p14:creationId xmlns:p14="http://schemas.microsoft.com/office/powerpoint/2010/main" val="940700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5ACFB-5246-64FA-3C36-F9686B4E251F}"/>
              </a:ext>
            </a:extLst>
          </p:cNvPr>
          <p:cNvSpPr>
            <a:spLocks noGrp="1"/>
          </p:cNvSpPr>
          <p:nvPr>
            <p:ph type="title"/>
          </p:nvPr>
        </p:nvSpPr>
        <p:spPr>
          <a:xfrm>
            <a:off x="626164" y="556591"/>
            <a:ext cx="3856383" cy="1033670"/>
          </a:xfrm>
        </p:spPr>
        <p:txBody>
          <a:bodyPr/>
          <a:lstStyle/>
          <a:p>
            <a:r>
              <a:rPr lang="ar-EG" b="1" dirty="0"/>
              <a:t>الخطوة التانية :</a:t>
            </a:r>
            <a:endParaRPr lang="en-US" b="1" dirty="0"/>
          </a:p>
        </p:txBody>
      </p:sp>
      <p:pic>
        <p:nvPicPr>
          <p:cNvPr id="6" name="Content Placeholder 5">
            <a:extLst>
              <a:ext uri="{FF2B5EF4-FFF2-40B4-BE49-F238E27FC236}">
                <a16:creationId xmlns:a16="http://schemas.microsoft.com/office/drawing/2014/main" id="{F8DFB8C9-06CA-682E-16E0-2721B24C62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61652" y="258417"/>
            <a:ext cx="3856382" cy="6221896"/>
          </a:xfrm>
        </p:spPr>
      </p:pic>
      <p:sp>
        <p:nvSpPr>
          <p:cNvPr id="7" name="Rectangle 1">
            <a:extLst>
              <a:ext uri="{FF2B5EF4-FFF2-40B4-BE49-F238E27FC236}">
                <a16:creationId xmlns:a16="http://schemas.microsoft.com/office/drawing/2014/main" id="{7390D067-3921-A652-E494-0F68C21FA4C3}"/>
              </a:ext>
            </a:extLst>
          </p:cNvPr>
          <p:cNvSpPr>
            <a:spLocks noGrp="1" noChangeArrowheads="1"/>
          </p:cNvSpPr>
          <p:nvPr>
            <p:ph type="body" sz="half" idx="2"/>
          </p:nvPr>
        </p:nvSpPr>
        <p:spPr bwMode="auto">
          <a:xfrm>
            <a:off x="625475" y="2136766"/>
            <a:ext cx="38563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EG"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a:t>
            </a: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ختيار الألوان</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قمت باختيار لوحة ألوان هادئة ومتناسقة تعكس طبيعة منتجات الـ</a:t>
            </a:r>
            <a:r>
              <a:rPr kumimoji="0" lang="en-US" altLang="en-US" sz="1800" b="0" i="0" u="none" strike="noStrike" cap="none" normalizeH="0" baseline="0" dirty="0">
                <a:ln>
                  <a:noFill/>
                </a:ln>
                <a:solidFill>
                  <a:schemeClr val="bg1"/>
                </a:solidFill>
                <a:effectLst/>
                <a:latin typeface="Arial" panose="020B0604020202020204" pitchFamily="34" charset="0"/>
              </a:rPr>
              <a:t> Skin Care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وتمنح الزائر شعوراً بالراحة والثقة</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تخصيص الشعار</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يوفر النظام خيار رفع شعار</a:t>
            </a:r>
            <a:r>
              <a:rPr kumimoji="0" lang="en-US" altLang="en-US" sz="1800" b="0" i="0" u="none" strike="noStrike" cap="none" normalizeH="0" baseline="0" dirty="0">
                <a:ln>
                  <a:noFill/>
                </a:ln>
                <a:solidFill>
                  <a:schemeClr val="bg1"/>
                </a:solidFill>
                <a:effectLst/>
                <a:latin typeface="Arial" panose="020B0604020202020204" pitchFamily="34" charset="0"/>
              </a:rPr>
              <a:t> (Logo)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خاص بالمتجر لتمييز العلامة التجارية وبناء هوية بصرية قوية من البداية</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الاحترافية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هذه الخطوة تضمن أن يظهر الموقع بشكل احترافي وجذاب للعملاء، مما يسهل عملية التحول من مجرد زائر إلى مشتري</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15715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6FEC-1590-7515-E7A3-0FB06230314F}"/>
              </a:ext>
            </a:extLst>
          </p:cNvPr>
          <p:cNvSpPr>
            <a:spLocks noGrp="1"/>
          </p:cNvSpPr>
          <p:nvPr>
            <p:ph type="title"/>
          </p:nvPr>
        </p:nvSpPr>
        <p:spPr>
          <a:xfrm>
            <a:off x="1302025" y="685802"/>
            <a:ext cx="3438939" cy="646042"/>
          </a:xfrm>
        </p:spPr>
        <p:txBody>
          <a:bodyPr/>
          <a:lstStyle/>
          <a:p>
            <a:r>
              <a:rPr lang="ar-EG" b="1" dirty="0"/>
              <a:t>الخطوة التالته : </a:t>
            </a:r>
            <a:endParaRPr lang="en-US" b="1" dirty="0"/>
          </a:p>
        </p:txBody>
      </p:sp>
      <p:sp>
        <p:nvSpPr>
          <p:cNvPr id="5" name="Rectangle 1">
            <a:extLst>
              <a:ext uri="{FF2B5EF4-FFF2-40B4-BE49-F238E27FC236}">
                <a16:creationId xmlns:a16="http://schemas.microsoft.com/office/drawing/2014/main" id="{6808C40F-AD6B-EAF3-9DB8-D923E6FB1232}"/>
              </a:ext>
            </a:extLst>
          </p:cNvPr>
          <p:cNvSpPr>
            <a:spLocks noGrp="1" noChangeArrowheads="1"/>
          </p:cNvSpPr>
          <p:nvPr>
            <p:ph type="body" sz="half" idx="2"/>
          </p:nvPr>
        </p:nvSpPr>
        <p:spPr bwMode="auto">
          <a:xfrm>
            <a:off x="556591" y="1778417"/>
            <a:ext cx="418437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تحديد الاحتياجات</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في هذه الخطوة، قمت باختيار الأدوات والخصائص التي يحتاجها متجر "العناية بالبشرة" تحديداً لضمان تقديم تجربة مستخدم متكاملة</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تعدد الخدمات</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لم يقتصر اختياري على "البيع" فقط، بل ركزت على إضافة خصائص تزيد من تفاعل العميل مع المتجر، مثل أنظمة التواصل والدعم الفني</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الفائدة العملية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هذه الخطوة في نظام</a:t>
            </a:r>
            <a:r>
              <a:rPr kumimoji="0" lang="en-US" altLang="en-US" sz="1800" b="0" i="0" u="none" strike="noStrike" cap="none" normalizeH="0" baseline="0" dirty="0">
                <a:ln>
                  <a:noFill/>
                </a:ln>
                <a:solidFill>
                  <a:schemeClr val="bg1"/>
                </a:solidFill>
                <a:effectLst/>
                <a:latin typeface="Arial" panose="020B0604020202020204" pitchFamily="34" charset="0"/>
              </a:rPr>
              <a:t> Odoo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تسمح لنا ببناء موقع "ذكي" يوفر كل متطلبات العميل في مكان واحد</a:t>
            </a:r>
            <a:endParaRPr lang="ar-EG" altLang="en-US" sz="1800"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الهدف النهائي</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الغرض هو تحويل الموقع من مجرد صفحة عرض لمنتجات إلى منصة خدمية وتفاعلية تساهم في زيادة ولاء العملاء للبراند</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1" name="Content Placeholder 10">
            <a:extLst>
              <a:ext uri="{FF2B5EF4-FFF2-40B4-BE49-F238E27FC236}">
                <a16:creationId xmlns:a16="http://schemas.microsoft.com/office/drawing/2014/main" id="{E1ED84AB-7FDD-60E9-BDFF-F74F5C0BAC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11957" y="357809"/>
            <a:ext cx="4502426" cy="6152321"/>
          </a:xfrm>
        </p:spPr>
      </p:pic>
    </p:spTree>
    <p:extLst>
      <p:ext uri="{BB962C8B-B14F-4D97-AF65-F5344CB8AC3E}">
        <p14:creationId xmlns:p14="http://schemas.microsoft.com/office/powerpoint/2010/main" val="29300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E8961-6D14-2696-4625-2C08AABB99D4}"/>
              </a:ext>
            </a:extLst>
          </p:cNvPr>
          <p:cNvSpPr>
            <a:spLocks noGrp="1"/>
          </p:cNvSpPr>
          <p:nvPr>
            <p:ph type="title"/>
          </p:nvPr>
        </p:nvSpPr>
        <p:spPr>
          <a:xfrm>
            <a:off x="1512764" y="-152400"/>
            <a:ext cx="2793158" cy="1186070"/>
          </a:xfrm>
        </p:spPr>
        <p:txBody>
          <a:bodyPr/>
          <a:lstStyle/>
          <a:p>
            <a:r>
              <a:rPr lang="ar-EG" b="1" dirty="0"/>
              <a:t>الخطوة الرابعة :</a:t>
            </a:r>
            <a:endParaRPr lang="en-US" b="1" dirty="0"/>
          </a:p>
        </p:txBody>
      </p:sp>
      <p:pic>
        <p:nvPicPr>
          <p:cNvPr id="7" name="Content Placeholder 6">
            <a:extLst>
              <a:ext uri="{FF2B5EF4-FFF2-40B4-BE49-F238E27FC236}">
                <a16:creationId xmlns:a16="http://schemas.microsoft.com/office/drawing/2014/main" id="{78385E6D-1C4D-6799-1306-621D546E23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10130" y="228601"/>
            <a:ext cx="3945836" cy="6361042"/>
          </a:xfrm>
        </p:spPr>
      </p:pic>
      <p:sp>
        <p:nvSpPr>
          <p:cNvPr id="5" name="Rectangle 1">
            <a:extLst>
              <a:ext uri="{FF2B5EF4-FFF2-40B4-BE49-F238E27FC236}">
                <a16:creationId xmlns:a16="http://schemas.microsoft.com/office/drawing/2014/main" id="{447B95F5-DA40-A90C-A4B8-3F5147DD4DCC}"/>
              </a:ext>
            </a:extLst>
          </p:cNvPr>
          <p:cNvSpPr>
            <a:spLocks noGrp="1" noChangeArrowheads="1"/>
          </p:cNvSpPr>
          <p:nvPr>
            <p:ph type="body" sz="half" idx="2"/>
          </p:nvPr>
        </p:nvSpPr>
        <p:spPr bwMode="auto">
          <a:xfrm>
            <a:off x="626165" y="1218485"/>
            <a:ext cx="403528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تنظيم العرض</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في هذه المرحلة، قمت باختيار "شكل الكتالوج" الذي سيظهر للعملاء، مع التركيز على النمط الذي يبرز صور منتجات الـ</a:t>
            </a:r>
            <a:r>
              <a:rPr kumimoji="0" lang="en-US" altLang="en-US" sz="1800" b="0" i="0" u="none" strike="noStrike" cap="none" normalizeH="0" baseline="0" dirty="0">
                <a:ln>
                  <a:noFill/>
                </a:ln>
                <a:solidFill>
                  <a:schemeClr val="bg1"/>
                </a:solidFill>
                <a:effectLst/>
                <a:latin typeface="Arial" panose="020B0604020202020204" pitchFamily="34" charset="0"/>
              </a:rPr>
              <a:t> Skin Care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بشكل واضح وجذاب</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تجربة تسوق سلسة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الهدف من اختيار هذا التصميم هو تسهيل عملية التصفح والبحث للعميل، لضمان وصوله للمنتج الذي يناسب نوع بشرته بأقل عدد من النقرات</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الاحترافية في التصميم</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يوفر نظام</a:t>
            </a:r>
            <a:r>
              <a:rPr kumimoji="0" lang="en-US" altLang="en-US" sz="1800" b="0" i="0" u="none" strike="noStrike" cap="none" normalizeH="0" baseline="0" dirty="0">
                <a:ln>
                  <a:noFill/>
                </a:ln>
                <a:solidFill>
                  <a:schemeClr val="bg1"/>
                </a:solidFill>
                <a:effectLst/>
                <a:latin typeface="Arial" panose="020B0604020202020204" pitchFamily="34" charset="0"/>
              </a:rPr>
              <a:t> Odoo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قوالب جاهزة تضمن عرض تفاصيل المنتج وسعره بطريقة منظمة، مما يعطي انطباعاً بالثقة والاحترافية للمتجر</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تسهيل المقارنة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اختيار تصميم كتالوج واضح يساعد العملاء على المقارنة بين الأنواع المختلفة من الكريمات أو السيروم بسهولة قبل اتخاذ قرار الشراء</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47638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ECACC-73AC-59E4-538F-54EB3153383C}"/>
              </a:ext>
            </a:extLst>
          </p:cNvPr>
          <p:cNvSpPr>
            <a:spLocks noGrp="1"/>
          </p:cNvSpPr>
          <p:nvPr>
            <p:ph type="title"/>
          </p:nvPr>
        </p:nvSpPr>
        <p:spPr>
          <a:xfrm>
            <a:off x="1630017" y="1295401"/>
            <a:ext cx="2981740" cy="811696"/>
          </a:xfrm>
        </p:spPr>
        <p:txBody>
          <a:bodyPr/>
          <a:lstStyle/>
          <a:p>
            <a:r>
              <a:rPr lang="ar-EG" b="1" dirty="0"/>
              <a:t>الخطوة الخامسة :</a:t>
            </a:r>
            <a:endParaRPr lang="en-US" b="1" dirty="0"/>
          </a:p>
        </p:txBody>
      </p:sp>
      <p:pic>
        <p:nvPicPr>
          <p:cNvPr id="7" name="Content Placeholder 6">
            <a:extLst>
              <a:ext uri="{FF2B5EF4-FFF2-40B4-BE49-F238E27FC236}">
                <a16:creationId xmlns:a16="http://schemas.microsoft.com/office/drawing/2014/main" id="{C3903949-4915-C04B-6A38-CCAC7FC65F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6199" y="218661"/>
            <a:ext cx="4135784" cy="6271591"/>
          </a:xfrm>
        </p:spPr>
      </p:pic>
      <p:sp>
        <p:nvSpPr>
          <p:cNvPr id="5" name="Rectangle 1">
            <a:extLst>
              <a:ext uri="{FF2B5EF4-FFF2-40B4-BE49-F238E27FC236}">
                <a16:creationId xmlns:a16="http://schemas.microsoft.com/office/drawing/2014/main" id="{51FAE40B-FBFC-B9B7-A66B-888BF03217F6}"/>
              </a:ext>
            </a:extLst>
          </p:cNvPr>
          <p:cNvSpPr>
            <a:spLocks noGrp="1" noChangeArrowheads="1"/>
          </p:cNvSpPr>
          <p:nvPr>
            <p:ph type="body" sz="half" idx="2"/>
          </p:nvPr>
        </p:nvSpPr>
        <p:spPr bwMode="auto">
          <a:xfrm>
            <a:off x="715617" y="2517502"/>
            <a:ext cx="380668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ClrTx/>
              <a:buSzTx/>
              <a:buFontTx/>
              <a:buChar char="•"/>
            </a:pPr>
            <a:r>
              <a:rPr kumimoji="0" lang="ar-EG"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:تخ</a:t>
            </a: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صيص العرض</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اخترت نموذجاً يركز على "صورة المنتج" كعنصر أساسي لجذب الانتباه، وهو الأنسب لمنتجات العناية بالبشرة</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الخيارات المتاحة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يوفر</a:t>
            </a:r>
            <a:r>
              <a:rPr kumimoji="0" lang="en-US" altLang="en-US" sz="1800" b="0" i="0" u="none" strike="noStrike" cap="none" normalizeH="0" baseline="0" dirty="0">
                <a:ln>
                  <a:noFill/>
                </a:ln>
                <a:solidFill>
                  <a:schemeClr val="bg1"/>
                </a:solidFill>
                <a:effectLst/>
                <a:latin typeface="Arial" panose="020B0604020202020204" pitchFamily="34" charset="0"/>
              </a:rPr>
              <a:t> Odoo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مرونة في ترتيب العناصر (مثل وضع السعر على اليمين أو أسفل الصورة) لاختيار الشكل الأكثر راحة للعين</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تفاعل العميل</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النماذج المختارة تضمن ظهور أزرار "الإضافة للسلة" و"قائمة الرغبات" بشكل بارز لسهولة الشراء</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162119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C6C35B5-7E51-8B20-E1F9-3A5F66E5F9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1591" y="159025"/>
            <a:ext cx="4432852" cy="6321287"/>
          </a:xfrm>
        </p:spPr>
      </p:pic>
      <p:sp>
        <p:nvSpPr>
          <p:cNvPr id="7" name="Rectangle 1">
            <a:extLst>
              <a:ext uri="{FF2B5EF4-FFF2-40B4-BE49-F238E27FC236}">
                <a16:creationId xmlns:a16="http://schemas.microsoft.com/office/drawing/2014/main" id="{BBED8959-41AB-1713-D835-C407C8B5A230}"/>
              </a:ext>
            </a:extLst>
          </p:cNvPr>
          <p:cNvSpPr>
            <a:spLocks noGrp="1" noChangeArrowheads="1"/>
          </p:cNvSpPr>
          <p:nvPr>
            <p:ph type="body" sz="half" idx="2"/>
          </p:nvPr>
        </p:nvSpPr>
        <p:spPr bwMode="auto">
          <a:xfrm>
            <a:off x="536714" y="1758455"/>
            <a:ext cx="414461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راحة العين</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اخترت سِمَة</a:t>
            </a:r>
            <a:r>
              <a:rPr kumimoji="0" lang="en-US" altLang="en-US" sz="1800" b="0" i="0" u="none" strike="noStrike" cap="none" normalizeH="0" baseline="0" dirty="0">
                <a:ln>
                  <a:noFill/>
                </a:ln>
                <a:solidFill>
                  <a:schemeClr val="bg1"/>
                </a:solidFill>
                <a:effectLst/>
                <a:latin typeface="Arial" panose="020B0604020202020204" pitchFamily="34" charset="0"/>
              </a:rPr>
              <a:t> (Theme)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تتميز بألوان هادئة ومساحات بيضاء كافية، لأن راحة العميل البصرية هي أول خطوة لبقائه في المتجر لفترة أطول</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جذب الانتباه</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التصميم المختار يعتمد على "البساطة الراقية" التي تبرز جمال منتجات العناية بالبشرة وتجعلها هي بطل المشهد</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بناء الثقة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السمة المنظمة تعطي انطباعاً بالاحترافية، مما يشجع العميل على تصفح المنتجات والاطمئنان لجودة البراند</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سهولة التفاعل</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توزيع العناصر في هذا القالب يوجه عين العميل مباشرة نحو الأقسام الهامة، مما يسهل عملية الشراء دون تشتت</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9" name="Title 8">
            <a:extLst>
              <a:ext uri="{FF2B5EF4-FFF2-40B4-BE49-F238E27FC236}">
                <a16:creationId xmlns:a16="http://schemas.microsoft.com/office/drawing/2014/main" id="{7E756C9D-C052-60FC-474C-CE673EACC3F3}"/>
              </a:ext>
            </a:extLst>
          </p:cNvPr>
          <p:cNvSpPr>
            <a:spLocks noGrp="1"/>
          </p:cNvSpPr>
          <p:nvPr>
            <p:ph type="title"/>
          </p:nvPr>
        </p:nvSpPr>
        <p:spPr>
          <a:xfrm>
            <a:off x="1487557" y="755375"/>
            <a:ext cx="2460556" cy="725556"/>
          </a:xfrm>
        </p:spPr>
        <p:txBody>
          <a:bodyPr/>
          <a:lstStyle/>
          <a:p>
            <a:r>
              <a:rPr lang="ar-EG" b="1" dirty="0"/>
              <a:t>الخطوة السادسة :</a:t>
            </a:r>
            <a:endParaRPr lang="en-US" b="1" dirty="0"/>
          </a:p>
        </p:txBody>
      </p:sp>
    </p:spTree>
    <p:extLst>
      <p:ext uri="{BB962C8B-B14F-4D97-AF65-F5344CB8AC3E}">
        <p14:creationId xmlns:p14="http://schemas.microsoft.com/office/powerpoint/2010/main" val="897046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8BEA9-DCA4-4F32-A26A-00441A04FFA9}"/>
              </a:ext>
            </a:extLst>
          </p:cNvPr>
          <p:cNvSpPr>
            <a:spLocks noGrp="1"/>
          </p:cNvSpPr>
          <p:nvPr>
            <p:ph type="title"/>
          </p:nvPr>
        </p:nvSpPr>
        <p:spPr>
          <a:xfrm>
            <a:off x="1411357" y="556592"/>
            <a:ext cx="2536756" cy="616226"/>
          </a:xfrm>
        </p:spPr>
        <p:txBody>
          <a:bodyPr/>
          <a:lstStyle/>
          <a:p>
            <a:r>
              <a:rPr lang="ar-EG" b="1" dirty="0"/>
              <a:t>الخطوة السابعة :</a:t>
            </a:r>
            <a:endParaRPr lang="en-US" b="1" dirty="0"/>
          </a:p>
        </p:txBody>
      </p:sp>
      <p:pic>
        <p:nvPicPr>
          <p:cNvPr id="7" name="Content Placeholder 6">
            <a:extLst>
              <a:ext uri="{FF2B5EF4-FFF2-40B4-BE49-F238E27FC236}">
                <a16:creationId xmlns:a16="http://schemas.microsoft.com/office/drawing/2014/main" id="{3C15873E-9F8C-8B2F-5ADF-D2499F5EFD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90849" y="208722"/>
            <a:ext cx="4234689" cy="6370982"/>
          </a:xfrm>
        </p:spPr>
      </p:pic>
      <p:sp>
        <p:nvSpPr>
          <p:cNvPr id="5" name="Rectangle 1">
            <a:extLst>
              <a:ext uri="{FF2B5EF4-FFF2-40B4-BE49-F238E27FC236}">
                <a16:creationId xmlns:a16="http://schemas.microsoft.com/office/drawing/2014/main" id="{FF1CE94F-46F2-6F85-C1C3-CB721C367EA6}"/>
              </a:ext>
            </a:extLst>
          </p:cNvPr>
          <p:cNvSpPr>
            <a:spLocks noGrp="1" noChangeArrowheads="1"/>
          </p:cNvSpPr>
          <p:nvPr>
            <p:ph type="body" sz="half" idx="2"/>
          </p:nvPr>
        </p:nvSpPr>
        <p:spPr bwMode="auto">
          <a:xfrm>
            <a:off x="705678" y="1293853"/>
            <a:ext cx="3496062"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ClrTx/>
              <a:buSzTx/>
              <a:buFontTx/>
              <a:buChar char="•"/>
            </a:pPr>
            <a:r>
              <a:rPr lang="ar-EG" altLang="en-US" sz="1800" b="1" dirty="0">
                <a:solidFill>
                  <a:schemeClr val="bg1"/>
                </a:solidFill>
                <a:latin typeface="Arial" panose="020B0604020202020204" pitchFamily="34" charset="0"/>
                <a:cs typeface="Arial" panose="020B0604020202020204" pitchFamily="34" charset="0"/>
              </a:rPr>
              <a:t>:ال</a:t>
            </a: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تنفيذ التلقائي</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بعد الانتهاء من تحديد كافة التفضيلات، يبدأ النظام الآن في "بناء الموقع" ودمج الألوان والتصاميم التي اخترتها آلياً</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lvl="0" defTabSz="914400" eaLnBrk="0" fontAlgn="base" hangingPunct="0">
              <a:spcBef>
                <a:spcPct val="0"/>
              </a:spcBef>
              <a:spcAft>
                <a:spcPct val="0"/>
              </a:spcAft>
              <a:buClrTx/>
              <a:buSzTx/>
              <a:buFontTx/>
              <a:buChar char="•"/>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تجهيز البنية التحتية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في هذه المرحلة، يتم ربط المتجر الإلكتروني بقاعدة البيانات، وتفعيل الخصائص (مثل المتجر والدردشة) لضمان جاهزيتها للعمل</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الدقة والسرعة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ميزة نظام</a:t>
            </a:r>
            <a:r>
              <a:rPr kumimoji="0" lang="en-US" altLang="en-US" sz="1800" b="0" i="0" u="none" strike="noStrike" cap="none" normalizeH="0" baseline="0" dirty="0">
                <a:ln>
                  <a:noFill/>
                </a:ln>
                <a:solidFill>
                  <a:schemeClr val="bg1"/>
                </a:solidFill>
                <a:effectLst/>
                <a:latin typeface="Arial" panose="020B0604020202020204" pitchFamily="34" charset="0"/>
              </a:rPr>
              <a:t> Odoo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هنا هي السرعة في تحويل الرؤية الفنية إلى متجر حقيقي متكامل دون الحاجة لأي تدخل برمجي معقد</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النتيجة المتوقعة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الخروج بموقع</a:t>
            </a:r>
            <a:r>
              <a:rPr kumimoji="0" lang="en-US" altLang="en-US" sz="1800" b="0" i="0" u="none" strike="noStrike" cap="none" normalizeH="0" baseline="0" dirty="0">
                <a:ln>
                  <a:noFill/>
                </a:ln>
                <a:solidFill>
                  <a:schemeClr val="bg1"/>
                </a:solidFill>
                <a:effectLst/>
                <a:latin typeface="Arial" panose="020B0604020202020204" pitchFamily="34" charset="0"/>
              </a:rPr>
              <a:t> Skin Care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احترافي، متناسق الألوان، وجاهز لاستقبال أول منتج وأول عميل</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0522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EB614-607F-FDA0-54F7-FCF81F3EB138}"/>
              </a:ext>
            </a:extLst>
          </p:cNvPr>
          <p:cNvSpPr>
            <a:spLocks noGrp="1"/>
          </p:cNvSpPr>
          <p:nvPr>
            <p:ph type="title"/>
          </p:nvPr>
        </p:nvSpPr>
        <p:spPr>
          <a:xfrm>
            <a:off x="1154955" y="1295400"/>
            <a:ext cx="2793158" cy="563217"/>
          </a:xfrm>
        </p:spPr>
        <p:txBody>
          <a:bodyPr/>
          <a:lstStyle/>
          <a:p>
            <a:r>
              <a:rPr lang="ar-EG" b="1" dirty="0"/>
              <a:t>الخطوة التامنه والاخيرة : </a:t>
            </a:r>
            <a:endParaRPr lang="en-US" b="1" dirty="0"/>
          </a:p>
        </p:txBody>
      </p:sp>
      <p:pic>
        <p:nvPicPr>
          <p:cNvPr id="7" name="Content Placeholder 6">
            <a:extLst>
              <a:ext uri="{FF2B5EF4-FFF2-40B4-BE49-F238E27FC236}">
                <a16:creationId xmlns:a16="http://schemas.microsoft.com/office/drawing/2014/main" id="{62C99D9F-A0A7-BABE-8A1D-4B7FB4F34A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0435" y="308113"/>
            <a:ext cx="3766930" cy="6092687"/>
          </a:xfrm>
        </p:spPr>
      </p:pic>
      <p:sp>
        <p:nvSpPr>
          <p:cNvPr id="5" name="Rectangle 1">
            <a:extLst>
              <a:ext uri="{FF2B5EF4-FFF2-40B4-BE49-F238E27FC236}">
                <a16:creationId xmlns:a16="http://schemas.microsoft.com/office/drawing/2014/main" id="{1CB7382B-9C9D-D4A3-1CAE-55601487C693}"/>
              </a:ext>
            </a:extLst>
          </p:cNvPr>
          <p:cNvSpPr>
            <a:spLocks noGrp="1" noChangeArrowheads="1"/>
          </p:cNvSpPr>
          <p:nvPr>
            <p:ph type="body" sz="half" idx="2"/>
          </p:nvPr>
        </p:nvSpPr>
        <p:spPr bwMode="auto">
          <a:xfrm>
            <a:off x="785190" y="2010452"/>
            <a:ext cx="353833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ar-EG" altLang="en-US" sz="1800" b="1" dirty="0">
                <a:solidFill>
                  <a:schemeClr val="bg1"/>
                </a:solidFill>
                <a:latin typeface="Arial" panose="020B0604020202020204" pitchFamily="34" charset="0"/>
                <a:cs typeface="Arial" panose="020B0604020202020204" pitchFamily="34" charset="0"/>
              </a:rPr>
              <a:t>اك</a:t>
            </a: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تمال التنفيذ</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تم بحمد الله بناء المتجر بالكامل، وتحولت الرؤية إلى واجهة حقيقية تجمع بين الأناقة في التصميم وسهولة الاستخدام</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رسالة ترحيبية جذابة</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وضعت شعاراً يلمس احتياج العميل ("استمتع ببشرة صحية") لضمان جذب الانتباه من أول ثانية</a:t>
            </a:r>
            <a:r>
              <a:rPr kumimoji="0" lang="en-US" altLang="en-US" sz="1800" b="0" i="0" u="none" strike="noStrike" cap="none" normalizeH="0" baseline="0" dirty="0">
                <a:ln>
                  <a:noFill/>
                </a:ln>
                <a:solidFill>
                  <a:schemeClr val="bg1"/>
                </a:solidFill>
                <a:effectLst/>
                <a:latin typeface="Arial" panose="020B0604020202020204" pitchFamily="34" charset="0"/>
              </a:rPr>
              <a:t>.</a:t>
            </a:r>
            <a:endParaRPr kumimoji="0" lang="ar-EG"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ar-SA"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جاهزية الشراء</a:t>
            </a:r>
            <a:r>
              <a:rPr kumimoji="0" lang="en-US" altLang="en-US" sz="1800" b="1" i="0" u="none" strike="noStrike" cap="none" normalizeH="0" baseline="0" dirty="0">
                <a:ln>
                  <a:noFill/>
                </a:ln>
                <a:solidFill>
                  <a:schemeClr val="bg1"/>
                </a:solidFill>
                <a:effectLst/>
                <a:latin typeface="Arial" panose="020B0604020202020204" pitchFamily="34" charset="0"/>
                <a:cs typeface="Arial" panose="020B0604020202020204" pitchFamily="34" charset="0"/>
              </a:rPr>
              <a:t>:</a:t>
            </a: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ar-SA" altLang="en-US" sz="18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المتجر الآن مهيأ تقنياً لاستقبال الزوار، تصفح المنتجات، وإتمام عمليات الشراء بشكل آمن وسلس</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2456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2A51-DDEB-0159-81B9-F76F4F15C391}"/>
              </a:ext>
            </a:extLst>
          </p:cNvPr>
          <p:cNvSpPr>
            <a:spLocks noGrp="1"/>
          </p:cNvSpPr>
          <p:nvPr>
            <p:ph type="title"/>
          </p:nvPr>
        </p:nvSpPr>
        <p:spPr>
          <a:xfrm>
            <a:off x="715617" y="833121"/>
            <a:ext cx="3707296" cy="697506"/>
          </a:xfrm>
        </p:spPr>
        <p:txBody>
          <a:bodyPr/>
          <a:lstStyle/>
          <a:p>
            <a:r>
              <a:rPr lang="en-US" b="1" dirty="0"/>
              <a:t> </a:t>
            </a:r>
          </a:p>
        </p:txBody>
      </p:sp>
      <p:pic>
        <p:nvPicPr>
          <p:cNvPr id="6" name="Content Placeholder 5">
            <a:extLst>
              <a:ext uri="{FF2B5EF4-FFF2-40B4-BE49-F238E27FC236}">
                <a16:creationId xmlns:a16="http://schemas.microsoft.com/office/drawing/2014/main" id="{AE628E21-B010-26EA-60E5-9459D9479C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13174" y="308113"/>
            <a:ext cx="4303643" cy="6291470"/>
          </a:xfrm>
        </p:spPr>
      </p:pic>
      <p:sp>
        <p:nvSpPr>
          <p:cNvPr id="4" name="Text Placeholder 3">
            <a:extLst>
              <a:ext uri="{FF2B5EF4-FFF2-40B4-BE49-F238E27FC236}">
                <a16:creationId xmlns:a16="http://schemas.microsoft.com/office/drawing/2014/main" id="{30D9E7D2-FB29-6974-031A-33FD21E492F8}"/>
              </a:ext>
            </a:extLst>
          </p:cNvPr>
          <p:cNvSpPr>
            <a:spLocks noGrp="1"/>
          </p:cNvSpPr>
          <p:nvPr>
            <p:ph type="body" sz="half" idx="2"/>
          </p:nvPr>
        </p:nvSpPr>
        <p:spPr>
          <a:xfrm>
            <a:off x="924339" y="1222513"/>
            <a:ext cx="3707296" cy="4065104"/>
          </a:xfrm>
        </p:spPr>
        <p:txBody>
          <a:bodyPr>
            <a:normAutofit/>
          </a:bodyPr>
          <a:lstStyle/>
          <a:p>
            <a:r>
              <a:rPr lang="ar-EG" sz="2800" dirty="0">
                <a:solidFill>
                  <a:schemeClr val="bg1"/>
                </a:solidFill>
              </a:rPr>
              <a:t>بهذه الخطوة، أصبح متجرنا المتخصص في العناية بالبشرة جاهزاً تماماً للعمل؛ حيث يمكن للعملاء الآن تصفح المنتجات حسب فئاتها المختلفة، واختيار ما يناسبهم، وإتمام عملية الشراء والحجز بكل سهولة وأمان.</a:t>
            </a:r>
            <a:endParaRPr lang="en-US" sz="2800" dirty="0">
              <a:solidFill>
                <a:schemeClr val="bg1"/>
              </a:solidFill>
            </a:endParaRPr>
          </a:p>
        </p:txBody>
      </p:sp>
    </p:spTree>
    <p:extLst>
      <p:ext uri="{BB962C8B-B14F-4D97-AF65-F5344CB8AC3E}">
        <p14:creationId xmlns:p14="http://schemas.microsoft.com/office/powerpoint/2010/main" val="2019033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11FE-B1A8-8437-6D6C-A2CA3EB9DC86}"/>
              </a:ext>
            </a:extLst>
          </p:cNvPr>
          <p:cNvSpPr>
            <a:spLocks noGrp="1"/>
          </p:cNvSpPr>
          <p:nvPr>
            <p:ph type="title"/>
          </p:nvPr>
        </p:nvSpPr>
        <p:spPr>
          <a:xfrm>
            <a:off x="1154954" y="661944"/>
            <a:ext cx="2800819" cy="677836"/>
          </a:xfrm>
        </p:spPr>
        <p:txBody>
          <a:bodyPr>
            <a:normAutofit/>
          </a:bodyPr>
          <a:lstStyle/>
          <a:p>
            <a:r>
              <a:rPr lang="en-US" dirty="0"/>
              <a:t>“ Add to cart “</a:t>
            </a:r>
          </a:p>
        </p:txBody>
      </p:sp>
      <p:pic>
        <p:nvPicPr>
          <p:cNvPr id="6" name="Content Placeholder 5">
            <a:extLst>
              <a:ext uri="{FF2B5EF4-FFF2-40B4-BE49-F238E27FC236}">
                <a16:creationId xmlns:a16="http://schemas.microsoft.com/office/drawing/2014/main" id="{9B576D56-BD35-2FF1-28FC-F8E70A003A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88235"/>
            <a:ext cx="3554896" cy="6102626"/>
          </a:xfrm>
        </p:spPr>
      </p:pic>
      <p:sp>
        <p:nvSpPr>
          <p:cNvPr id="4" name="Text Placeholder 3">
            <a:extLst>
              <a:ext uri="{FF2B5EF4-FFF2-40B4-BE49-F238E27FC236}">
                <a16:creationId xmlns:a16="http://schemas.microsoft.com/office/drawing/2014/main" id="{6F59531D-C800-535D-1B68-634C7080C012}"/>
              </a:ext>
            </a:extLst>
          </p:cNvPr>
          <p:cNvSpPr>
            <a:spLocks noGrp="1"/>
          </p:cNvSpPr>
          <p:nvPr>
            <p:ph type="body" sz="half" idx="2"/>
          </p:nvPr>
        </p:nvSpPr>
        <p:spPr>
          <a:xfrm>
            <a:off x="636104" y="1759226"/>
            <a:ext cx="3955774" cy="4265653"/>
          </a:xfrm>
        </p:spPr>
        <p:txBody>
          <a:bodyPr>
            <a:normAutofit/>
          </a:bodyPr>
          <a:lstStyle/>
          <a:p>
            <a:r>
              <a:rPr lang="ar-EG" sz="2000" dirty="0">
                <a:solidFill>
                  <a:schemeClr val="bg1"/>
                </a:solidFill>
              </a:rPr>
              <a:t>اكتملت تجربة العميل داخل المتجر بواجهة شراء احترافية تتيح له مراجعة المنتجات المختارة في سلة التسوق، وحساب الإجمالي بدقة قبل الانتقال لخطوة 'الدفع ثم اظهار الفاتورة ثم الخروج' لإتمام العملية بنجاح.</a:t>
            </a:r>
            <a:endParaRPr lang="en-US" sz="2000" dirty="0">
              <a:solidFill>
                <a:schemeClr val="bg1"/>
              </a:solidFill>
            </a:endParaRPr>
          </a:p>
        </p:txBody>
      </p:sp>
    </p:spTree>
    <p:extLst>
      <p:ext uri="{BB962C8B-B14F-4D97-AF65-F5344CB8AC3E}">
        <p14:creationId xmlns:p14="http://schemas.microsoft.com/office/powerpoint/2010/main" val="2439882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1D732-0BA3-D4BC-3E90-4565D34FFA04}"/>
              </a:ext>
            </a:extLst>
          </p:cNvPr>
          <p:cNvSpPr>
            <a:spLocks noGrp="1"/>
          </p:cNvSpPr>
          <p:nvPr>
            <p:ph type="ctrTitle"/>
          </p:nvPr>
        </p:nvSpPr>
        <p:spPr>
          <a:xfrm>
            <a:off x="8368747" y="775252"/>
            <a:ext cx="3001617" cy="1441175"/>
          </a:xfrm>
        </p:spPr>
        <p:txBody>
          <a:bodyPr/>
          <a:lstStyle/>
          <a:p>
            <a:r>
              <a:rPr lang="ar-EG" dirty="0"/>
              <a:t>وفي الختام :</a:t>
            </a:r>
            <a:endParaRPr lang="en-US" dirty="0"/>
          </a:p>
        </p:txBody>
      </p:sp>
      <p:sp>
        <p:nvSpPr>
          <p:cNvPr id="3" name="Subtitle 2">
            <a:extLst>
              <a:ext uri="{FF2B5EF4-FFF2-40B4-BE49-F238E27FC236}">
                <a16:creationId xmlns:a16="http://schemas.microsoft.com/office/drawing/2014/main" id="{17A7E44A-D0F5-9F35-5EAF-A95DA7D5051F}"/>
              </a:ext>
            </a:extLst>
          </p:cNvPr>
          <p:cNvSpPr>
            <a:spLocks noGrp="1"/>
          </p:cNvSpPr>
          <p:nvPr>
            <p:ph type="subTitle" idx="1"/>
          </p:nvPr>
        </p:nvSpPr>
        <p:spPr>
          <a:xfrm>
            <a:off x="526774" y="2613990"/>
            <a:ext cx="11131826" cy="2943641"/>
          </a:xfrm>
        </p:spPr>
        <p:txBody>
          <a:bodyPr>
            <a:normAutofit/>
          </a:bodyPr>
          <a:lstStyle/>
          <a:p>
            <a:r>
              <a:rPr lang="ar-EG" dirty="0">
                <a:solidFill>
                  <a:schemeClr val="bg1"/>
                </a:solidFill>
              </a:rPr>
              <a:t>الختام، كانت هذه التجربة تطبيقاً حقيقياً لتحويل فكرة متجر </a:t>
            </a:r>
            <a:r>
              <a:rPr lang="en-US" dirty="0">
                <a:solidFill>
                  <a:schemeClr val="bg1"/>
                </a:solidFill>
              </a:rPr>
              <a:t>Skin Care' </a:t>
            </a:r>
            <a:r>
              <a:rPr lang="ar-EG" dirty="0">
                <a:solidFill>
                  <a:schemeClr val="bg1"/>
                </a:solidFill>
              </a:rPr>
              <a:t>إلى واقع ملموس عبر نظام </a:t>
            </a:r>
            <a:r>
              <a:rPr lang="en-US" dirty="0">
                <a:solidFill>
                  <a:schemeClr val="bg1"/>
                </a:solidFill>
              </a:rPr>
              <a:t>Odoo</a:t>
            </a:r>
            <a:r>
              <a:rPr lang="en-US" dirty="0"/>
              <a:t> </a:t>
            </a:r>
            <a:r>
              <a:rPr lang="ar-EG" dirty="0">
                <a:solidFill>
                  <a:schemeClr val="bg1"/>
                </a:solidFill>
              </a:rPr>
              <a:t>حيث تكمن الفائدة العملية في الربط المباشر بين التصميم الجذاب وإدارة المبيعات، مما يضمن للعميل رحلة تسوق سهلة وموثوقة تبدأ من أول نظرة للموقع وتنتهي بإتمام عملية الشراء بنجاح، وهو ما يجسد كفاءة الأنظمة الرقمية في إدارة المشاريع الناشئة باحترافية.</a:t>
            </a:r>
          </a:p>
          <a:p>
            <a:r>
              <a:rPr lang="ar-EG" dirty="0">
                <a:solidFill>
                  <a:schemeClr val="bg1"/>
                </a:solidFill>
              </a:rPr>
              <a:t>      </a:t>
            </a:r>
          </a:p>
          <a:p>
            <a:endParaRPr lang="ar-EG" dirty="0">
              <a:solidFill>
                <a:schemeClr val="bg1"/>
              </a:solidFill>
            </a:endParaRPr>
          </a:p>
          <a:p>
            <a:endParaRPr lang="ar-EG" dirty="0">
              <a:solidFill>
                <a:schemeClr val="bg1"/>
              </a:solidFill>
            </a:endParaRPr>
          </a:p>
          <a:p>
            <a:r>
              <a:rPr lang="ar-EG" dirty="0">
                <a:solidFill>
                  <a:schemeClr val="bg1"/>
                </a:solidFill>
              </a:rPr>
              <a:t>- مع خالص الشكر لدكتور محمد حامد و مجهوده معنا.</a:t>
            </a:r>
            <a:endParaRPr lang="en-US" dirty="0">
              <a:solidFill>
                <a:schemeClr val="bg1"/>
              </a:solidFill>
            </a:endParaRPr>
          </a:p>
        </p:txBody>
      </p:sp>
    </p:spTree>
    <p:extLst>
      <p:ext uri="{BB962C8B-B14F-4D97-AF65-F5344CB8AC3E}">
        <p14:creationId xmlns:p14="http://schemas.microsoft.com/office/powerpoint/2010/main" val="10539474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624</TotalTime>
  <Words>1170</Words>
  <Application>Microsoft Office PowerPoint</Application>
  <PresentationFormat>Widescreen</PresentationFormat>
  <Paragraphs>90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 Boardroom</vt:lpstr>
      <vt:lpstr>  ODOO &amp; ERP SYSTEM </vt:lpstr>
      <vt:lpstr>ODOO WEBSITE </vt:lpstr>
      <vt:lpstr> و مميزاته ODOO فكرة تطبيق </vt:lpstr>
      <vt:lpstr> و الاهتمام بالبشرة ؟Skincare لماذا اختارنا مجال ال</vt:lpstr>
      <vt:lpstr> الخطوة الاولي : </vt:lpstr>
      <vt:lpstr>الخطوة التانية :</vt:lpstr>
      <vt:lpstr>الخطوة التالته : </vt:lpstr>
      <vt:lpstr>الخطوة الرابعة :</vt:lpstr>
      <vt:lpstr>الخطوة الخامسة :</vt:lpstr>
      <vt:lpstr>الخطوة السادسة :</vt:lpstr>
      <vt:lpstr>الخطوة السابعة :</vt:lpstr>
      <vt:lpstr>الخطوة التامنه والاخيرة : </vt:lpstr>
      <vt:lpstr> </vt:lpstr>
      <vt:lpstr>“ Add to cart “</vt:lpstr>
      <vt:lpstr>وفي الختام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ODOO &amp; ERP SYSTEM </dc:title>
  <dc:creator>Hana Mohammed Amer</dc:creator>
  <cp:lastModifiedBy>Hana Mohammed Amer</cp:lastModifiedBy>
  <cp:revision>2</cp:revision>
  <dcterms:created xsi:type="dcterms:W3CDTF">2025-12-20T22:57:46Z</dcterms:created>
  <dcterms:modified xsi:type="dcterms:W3CDTF">2026-04-23T22:58:07Z</dcterms:modified>
</cp:coreProperties>
</file>